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Количество задач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Высокий</c:v>
                </c:pt>
                <c:pt idx="1">
                  <c:v>Средний</c:v>
                </c:pt>
                <c:pt idx="2">
                  <c:v>Низкий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7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FB-BD45-9EDD-5AE4D2FCA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367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learn/asynchronous-work/event-loop-timers-and-nexttick#:~:text=The%20event%20loop%20is%20what,the%20system%20kernel%20whenever%20possibl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odejs.org/en/learn/asynchronous-work/dont-block-the-event-loop#:~:text=Node,must%20structure%20your%20application%20to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learn/asynchronous-work/event-loop-timers-and-nexttick#:~:text=The%20event%20loop%20is%20what,the%20system%20kernel%20whenever%20possibl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odejs.org/en/learn/asynchronous-work/dont-block-the-event-loop#:~:text=Node,aka%20the%20threadpoo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learn/asynchronous-work/dont-block-the-event-loop#:~:text=Node,aka%20the%20threadpoo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odejs.org/en/learn/asynchronous-work/dont-block-the-event-loop#:~:text=Node,intensive%20task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api/worker_threads.html#:~:text=The%20,To%20access%20i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eveloper.mozilla.org/en-US/docs/Web/API/Web_Workers_API/Using_web_workers#:~:text=Using%20Web%20Worker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api/worker_threads.html#:~:text=The%20,To%20access%20i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odejs.org/en/learn/asynchronous-work/dont-block-the-event-loop#:~:text=In%20a%20one,clients%20that%20require%20more%20work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learn/asynchronous-work/dont-block-the-event-loop#:~:text=Node,aka%20the%20threadpoo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odejs.org/api/worker_threads.html#:~:text=The%20,To%20access%20i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api/worker_threads.html#:~:text=The%20,To%20access%20i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learn/asynchronous-work/event-loop-timers-and-nexttick#:~:text=The%20event%20loop%20is%20what,the%20system%20kernel%20whenever%20possibl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eloper.mozilla.org/en-US/docs/Web/API/Web_Workers_API/Using_web_workers#:~:text=Using%20Web%20Workers" TargetMode="External"/><Relationship Id="rId4" Type="http://schemas.openxmlformats.org/officeDocument/2006/relationships/hyperlink" Target="https://nodejs.org/api/worker_threads.html#:~:text=The%20,To%20access%20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548640"/>
            <a:ext cx="393192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D4E91"/>
                </a:solidFill>
              </a:rPr>
              <a:t>Многопоточность и конкурентность</a:t>
            </a:r>
            <a:endParaRPr lang="en-US" sz="4000" dirty="0"/>
          </a:p>
          <a:p>
            <a:pPr marL="0" indent="0" algn="l">
              <a:buNone/>
            </a:pPr>
            <a:r>
              <a:rPr lang="en-US" sz="3200" i="1" dirty="0">
                <a:solidFill>
                  <a:srgbClr val="4C84C9"/>
                </a:solidFill>
              </a:rPr>
              <a:t>в JavaScript (Node.js)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36576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i="1" dirty="0" err="1">
                <a:solidFill>
                  <a:srgbClr val="666666"/>
                </a:solidFill>
              </a:rPr>
              <a:t>Доклад</a:t>
            </a:r>
            <a:r>
              <a:rPr lang="en-US" sz="1600" i="1" dirty="0">
                <a:solidFill>
                  <a:srgbClr val="666666"/>
                </a:solidFill>
              </a:rPr>
              <a:t> </a:t>
            </a:r>
            <a:r>
              <a:rPr lang="ru-RU" sz="1600" i="1" dirty="0">
                <a:solidFill>
                  <a:srgbClr val="666666"/>
                </a:solidFill>
              </a:rPr>
              <a:t>подготовил:</a:t>
            </a:r>
            <a:br>
              <a:rPr lang="ru-RU" sz="1600" i="1" dirty="0">
                <a:solidFill>
                  <a:srgbClr val="666666"/>
                </a:solidFill>
              </a:rPr>
            </a:br>
            <a:r>
              <a:rPr lang="ru-RU" sz="1600" i="1" dirty="0" err="1">
                <a:solidFill>
                  <a:srgbClr val="666666"/>
                </a:solidFill>
              </a:rPr>
              <a:t>Ряднов</a:t>
            </a:r>
            <a:r>
              <a:rPr lang="ru-RU" sz="1600" i="1" dirty="0">
                <a:solidFill>
                  <a:srgbClr val="666666"/>
                </a:solidFill>
              </a:rPr>
              <a:t> Вениамин Сергеевич</a:t>
            </a:r>
            <a:br>
              <a:rPr lang="ru-RU" sz="1600" i="1" dirty="0">
                <a:solidFill>
                  <a:srgbClr val="666666"/>
                </a:solidFill>
              </a:rPr>
            </a:br>
            <a:r>
              <a:rPr lang="ru-RU" sz="1600" i="1" dirty="0">
                <a:solidFill>
                  <a:srgbClr val="666666"/>
                </a:solidFill>
              </a:rPr>
              <a:t>К3350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4E91"/>
                </a:solidFill>
              </a:rPr>
              <a:t>Введение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</a:rPr>
              <a:t>• JavaScript исполняет основной код в одном потоке.
</a:t>
            </a:r>
            <a:r>
              <a:rPr lang="en-US" sz="1600" dirty="0">
                <a:solidFill>
                  <a:srgbClr val="333333"/>
                </a:solidFill>
              </a:rPr>
              <a:t>• Отсутствие классической многопоточности (как в C++ или Java).
• Конкурентность достигается за счёт неблокирующего ввода‑вывода и очереди событий (event loop).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2194560" cy="548640"/>
          </a:xfrm>
          <a:prstGeom prst="rect">
            <a:avLst/>
          </a:prstGeom>
          <a:solidFill>
            <a:srgbClr val="2D4E91"/>
          </a:solidFill>
          <a:ln w="12700">
            <a:solidFill>
              <a:srgbClr val="2D4E9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Основной поток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34640" y="3474720"/>
            <a:ext cx="731520" cy="365760"/>
          </a:xfrm>
          <a:prstGeom prst="rightArrow">
            <a:avLst/>
          </a:prstGeom>
          <a:solidFill>
            <a:srgbClr val="4C84C9"/>
          </a:solidFill>
          <a:ln w="12700">
            <a:solidFill>
              <a:srgbClr val="4C8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840480" y="3383280"/>
            <a:ext cx="1280160" cy="548640"/>
          </a:xfrm>
          <a:prstGeom prst="roundRect">
            <a:avLst/>
          </a:prstGeom>
          <a:solidFill>
            <a:srgbClr val="4C84C9"/>
          </a:solidFill>
          <a:ln w="12700">
            <a:solidFill>
              <a:srgbClr val="4C8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840480" y="3383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I/O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94960" y="3383280"/>
            <a:ext cx="1280160" cy="548640"/>
          </a:xfrm>
          <a:prstGeom prst="roundRect">
            <a:avLst/>
          </a:prstGeom>
          <a:solidFill>
            <a:srgbClr val="4C84C9"/>
          </a:solidFill>
          <a:ln w="12700">
            <a:solidFill>
              <a:srgbClr val="4C8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394960" y="3383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Таймеры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0" y="3383280"/>
            <a:ext cx="1280160" cy="548640"/>
          </a:xfrm>
          <a:prstGeom prst="roundRect">
            <a:avLst/>
          </a:prstGeom>
          <a:solidFill>
            <a:srgbClr val="4C84C9"/>
          </a:solidFill>
          <a:ln w="12700">
            <a:solidFill>
              <a:srgbClr val="4C8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0" y="3383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Сеть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2D4E91"/>
                </a:solidFill>
                <a:hlinkClick r:id="rId3"/>
              </a:rPr>
              <a:t>[1]</a:t>
            </a:r>
            <a:r>
              <a:rPr lang="en-US" sz="700" dirty="0">
                <a:solidFill>
                  <a:srgbClr val="666666"/>
                </a:solidFill>
              </a:rPr>
              <a:t>   </a:t>
            </a:r>
            <a:r>
              <a:rPr lang="en-US" sz="700" u="sng" dirty="0">
                <a:solidFill>
                  <a:srgbClr val="2D4E91"/>
                </a:solidFill>
                <a:hlinkClick r:id="rId4"/>
              </a:rPr>
              <a:t>[2]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4E91"/>
                </a:solidFill>
              </a:rPr>
              <a:t>Конкурентность: event loop, асинхронность, Promises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</a:rPr>
              <a:t>Event loop:
</a:t>
            </a:r>
            <a:r>
              <a:rPr lang="en-US" sz="1400" dirty="0">
                <a:solidFill>
                  <a:srgbClr val="333333"/>
                </a:solidFill>
              </a:rPr>
              <a:t>• Инициализируется при запуске приложения.
• Цикл проходит через фазы: timers, callbacks, poll, check, close.
• Асинхронные операции (I/O, таймеры) помещают обратные вызовы в очередь.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63440" y="109728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</a:rPr>
              <a:t>Promises &amp; async/await:
</a:t>
            </a:r>
            <a:r>
              <a:rPr lang="en-US" sz="1400" dirty="0">
                <a:solidFill>
                  <a:srgbClr val="333333"/>
                </a:solidFill>
              </a:rPr>
              <a:t>• Высокоуровневая абстракция для асинхронного кода.
• Позволяет писать последовательную логику без вложенных колбэков.
• Не создают новые потоки – выполняют продолжение при завершении операции.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1097280" cy="457200"/>
          </a:xfrm>
          <a:prstGeom prst="ellipse">
            <a:avLst/>
          </a:prstGeom>
          <a:solidFill>
            <a:srgbClr val="4C84C9"/>
          </a:solidFill>
          <a:ln w="12700">
            <a:solidFill>
              <a:srgbClr val="4C8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timers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4343400"/>
            <a:ext cx="365760" cy="182880"/>
          </a:xfrm>
          <a:prstGeom prst="rightArrow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286000" y="4206240"/>
            <a:ext cx="1097280" cy="457200"/>
          </a:xfrm>
          <a:prstGeom prst="ellipse">
            <a:avLst/>
          </a:prstGeom>
          <a:solidFill>
            <a:srgbClr val="4C84C9"/>
          </a:solidFill>
          <a:ln w="12700">
            <a:solidFill>
              <a:srgbClr val="4C8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286000" y="4206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callbacks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4343400"/>
            <a:ext cx="365760" cy="182880"/>
          </a:xfrm>
          <a:prstGeom prst="rightArrow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931920" y="4206240"/>
            <a:ext cx="1097280" cy="457200"/>
          </a:xfrm>
          <a:prstGeom prst="ellipse">
            <a:avLst/>
          </a:prstGeom>
          <a:solidFill>
            <a:srgbClr val="4C84C9"/>
          </a:solidFill>
          <a:ln w="12700">
            <a:solidFill>
              <a:srgbClr val="4C8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931920" y="4206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poll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4343400"/>
            <a:ext cx="365760" cy="182880"/>
          </a:xfrm>
          <a:prstGeom prst="rightArrow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577840" y="4206240"/>
            <a:ext cx="1097280" cy="457200"/>
          </a:xfrm>
          <a:prstGeom prst="ellipse">
            <a:avLst/>
          </a:prstGeom>
          <a:solidFill>
            <a:srgbClr val="4C84C9"/>
          </a:solidFill>
          <a:ln w="12700">
            <a:solidFill>
              <a:srgbClr val="4C8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577840" y="4206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check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4343400"/>
            <a:ext cx="365760" cy="182880"/>
          </a:xfrm>
          <a:prstGeom prst="rightArrow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223760" y="4206240"/>
            <a:ext cx="1097280" cy="457200"/>
          </a:xfrm>
          <a:prstGeom prst="ellipse">
            <a:avLst/>
          </a:prstGeom>
          <a:solidFill>
            <a:srgbClr val="4C84C9"/>
          </a:solidFill>
          <a:ln w="12700">
            <a:solidFill>
              <a:srgbClr val="4C8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223760" y="4206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close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2D4E91"/>
                </a:solidFill>
                <a:hlinkClick r:id="rId3"/>
              </a:rPr>
              <a:t>[1]</a:t>
            </a:r>
            <a:r>
              <a:rPr lang="en-US" sz="700" dirty="0">
                <a:solidFill>
                  <a:srgbClr val="666666"/>
                </a:solidFill>
              </a:rPr>
              <a:t>   </a:t>
            </a:r>
            <a:r>
              <a:rPr lang="en-US" sz="700" u="sng" dirty="0">
                <a:solidFill>
                  <a:srgbClr val="2D4E91"/>
                </a:solidFill>
                <a:hlinkClick r:id="rId4"/>
              </a:rPr>
              <a:t>[3]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4E91"/>
                </a:solidFill>
              </a:rPr>
              <a:t>Node.js: эффективность I/O без многопоточности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Неблокирующая модель позволяет обслуживать множество запросов без запуска отдельных потоков.
Тяжёлые CPU‑вычисления в основном потоке блокируют event loop и ухудшают отклик.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1371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Тип работы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E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Обработчик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E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Блокирует event loop?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E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Сетевые/файловые I/O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Ядро ОС / libuv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Нет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I/O‑интенсивные API (DNS, FS)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Пул воркеров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Нет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CPU‑интенсивный JS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Основной поток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Да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2D4E91"/>
                </a:solidFill>
                <a:hlinkClick r:id="rId3"/>
              </a:rPr>
              <a:t>[4]</a:t>
            </a:r>
            <a:r>
              <a:rPr lang="en-US" sz="700" dirty="0">
                <a:solidFill>
                  <a:srgbClr val="666666"/>
                </a:solidFill>
              </a:rPr>
              <a:t>   </a:t>
            </a:r>
            <a:r>
              <a:rPr lang="en-US" sz="700" u="sng" dirty="0">
                <a:solidFill>
                  <a:srgbClr val="2D4E91"/>
                </a:solidFill>
                <a:hlinkClick r:id="rId4"/>
              </a:rPr>
              <a:t>[5]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4E91"/>
                </a:solidFill>
              </a:rPr>
              <a:t>Реальный параллелизм: Workers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• Workers исполняют код в отдельном потоке для CPU‑интенсивных задач.
• worker_threads в Node.js могут разделять память через SharedArrayBuffer и Atomics.
• Web Workers в браузере работают в фоне и не блокируют интерфейс; обмен данными через postMessage.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3566160"/>
            <a:ext cx="1645920" cy="548640"/>
          </a:xfrm>
          <a:prstGeom prst="roundRect">
            <a:avLst/>
          </a:prstGeom>
          <a:solidFill>
            <a:srgbClr val="2D4E91"/>
          </a:solidFill>
          <a:ln w="12700">
            <a:solidFill>
              <a:srgbClr val="2D4E9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Thread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3566160"/>
            <a:ext cx="1280160" cy="548640"/>
          </a:xfrm>
          <a:prstGeom prst="roundRect">
            <a:avLst/>
          </a:prstGeom>
          <a:solidFill>
            <a:srgbClr val="4C84C9"/>
          </a:solidFill>
          <a:ln w="12700">
            <a:solidFill>
              <a:srgbClr val="4C8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657600" y="35661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Worker 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3749040"/>
            <a:ext cx="1097280" cy="182880"/>
          </a:xfrm>
          <a:prstGeom prst="rightArrow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212080" y="3566160"/>
            <a:ext cx="1280160" cy="548640"/>
          </a:xfrm>
          <a:prstGeom prst="roundRect">
            <a:avLst/>
          </a:prstGeom>
          <a:solidFill>
            <a:srgbClr val="4C84C9"/>
          </a:solidFill>
          <a:ln w="12700">
            <a:solidFill>
              <a:srgbClr val="4C8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212080" y="35661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Worker 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1" y="3749040"/>
            <a:ext cx="274320" cy="182880"/>
          </a:xfrm>
          <a:prstGeom prst="rightArrow">
            <a:avLst>
              <a:gd name="adj1" fmla="val 33607"/>
              <a:gd name="adj2" fmla="val 50000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766560" y="3566160"/>
            <a:ext cx="1280160" cy="548640"/>
          </a:xfrm>
          <a:prstGeom prst="roundRect">
            <a:avLst/>
          </a:prstGeom>
          <a:solidFill>
            <a:srgbClr val="4C84C9"/>
          </a:solidFill>
          <a:ln w="12700">
            <a:solidFill>
              <a:srgbClr val="4C8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766560" y="35661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Worker 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2D4E91"/>
                </a:solidFill>
                <a:hlinkClick r:id="rId3"/>
              </a:rPr>
              <a:t>[6]</a:t>
            </a:r>
            <a:r>
              <a:rPr lang="en-US" sz="700" dirty="0">
                <a:solidFill>
                  <a:srgbClr val="666666"/>
                </a:solidFill>
              </a:rPr>
              <a:t>   </a:t>
            </a:r>
            <a:r>
              <a:rPr lang="en-US" sz="700" u="sng" dirty="0">
                <a:solidFill>
                  <a:srgbClr val="2D4E91"/>
                </a:solidFill>
                <a:hlinkClick r:id="rId4"/>
              </a:rPr>
              <a:t>[7]</a:t>
            </a:r>
            <a:endParaRPr lang="en-US" sz="70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78195D24-750B-5A57-413D-68AA72916C2F}"/>
              </a:ext>
            </a:extLst>
          </p:cNvPr>
          <p:cNvSpPr/>
          <p:nvPr/>
        </p:nvSpPr>
        <p:spPr>
          <a:xfrm>
            <a:off x="6492241" y="3749040"/>
            <a:ext cx="274320" cy="182880"/>
          </a:xfrm>
          <a:prstGeom prst="rightArrow">
            <a:avLst>
              <a:gd name="adj1" fmla="val 33607"/>
              <a:gd name="adj2" fmla="val 50000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28"/>
          <p:cNvSpPr/>
          <p:nvPr/>
        </p:nvSpPr>
        <p:spPr>
          <a:xfrm>
            <a:off x="1645920" y="3886200"/>
            <a:ext cx="1737360" cy="91440"/>
          </a:xfrm>
          <a:prstGeom prst="rightArrow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4297680" y="3886200"/>
            <a:ext cx="457200" cy="95864"/>
          </a:xfrm>
          <a:prstGeom prst="rightArrow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371600" y="1783080"/>
            <a:ext cx="1463040" cy="91440"/>
          </a:xfrm>
          <a:prstGeom prst="rightArrow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508760" y="1790950"/>
            <a:ext cx="2743200" cy="91440"/>
          </a:xfrm>
          <a:prstGeom prst="rightArrow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4E91"/>
                </a:solidFill>
              </a:rPr>
              <a:t>Практические паттерны конкурентности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4C9"/>
                </a:solidFill>
              </a:rPr>
              <a:t>Worker Pool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457200"/>
          </a:xfrm>
          <a:prstGeom prst="rect">
            <a:avLst/>
          </a:prstGeom>
          <a:solidFill>
            <a:srgbClr val="4C84C9"/>
          </a:solidFill>
          <a:ln w="12700">
            <a:solidFill>
              <a:srgbClr val="4C8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Очередь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0" y="1554480"/>
            <a:ext cx="1097280" cy="457200"/>
          </a:xfrm>
          <a:prstGeom prst="roundRect">
            <a:avLst/>
          </a:prstGeom>
          <a:solidFill>
            <a:srgbClr val="2D4E91"/>
          </a:solidFill>
          <a:ln w="12700">
            <a:solidFill>
              <a:srgbClr val="2D4E9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64592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W1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1783080"/>
            <a:ext cx="182880" cy="91440"/>
          </a:xfrm>
          <a:prstGeom prst="rightArrow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926080" y="1554480"/>
            <a:ext cx="1097280" cy="457200"/>
          </a:xfrm>
          <a:prstGeom prst="roundRect">
            <a:avLst/>
          </a:prstGeom>
          <a:solidFill>
            <a:srgbClr val="2D4E91"/>
          </a:solidFill>
          <a:ln w="12700">
            <a:solidFill>
              <a:srgbClr val="2D4E9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92608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1554480"/>
            <a:ext cx="1097280" cy="457200"/>
          </a:xfrm>
          <a:prstGeom prst="roundRect">
            <a:avLst/>
          </a:prstGeom>
          <a:solidFill>
            <a:srgbClr val="2D4E91"/>
          </a:solidFill>
          <a:ln w="12700">
            <a:solidFill>
              <a:srgbClr val="2D4E9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20624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W3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4C9"/>
                </a:solidFill>
              </a:rPr>
              <a:t>Pipeline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1463040" cy="457200"/>
          </a:xfrm>
          <a:prstGeom prst="roundRect">
            <a:avLst/>
          </a:prstGeom>
          <a:solidFill>
            <a:srgbClr val="2D4E91"/>
          </a:solidFill>
          <a:ln w="12700">
            <a:solidFill>
              <a:srgbClr val="2D4E9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Stage 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20240" y="2697480"/>
            <a:ext cx="365760" cy="91440"/>
          </a:xfrm>
          <a:prstGeom prst="rightArrow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2286000" y="2560320"/>
            <a:ext cx="1463040" cy="457200"/>
          </a:xfrm>
          <a:prstGeom prst="roundRect">
            <a:avLst/>
          </a:prstGeom>
          <a:solidFill>
            <a:srgbClr val="2D4E91"/>
          </a:solidFill>
          <a:ln w="12700">
            <a:solidFill>
              <a:srgbClr val="2D4E9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2286000" y="2560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Stage 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49040" y="2697480"/>
            <a:ext cx="365760" cy="91440"/>
          </a:xfrm>
          <a:prstGeom prst="rightArrow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114800" y="2560320"/>
            <a:ext cx="1463040" cy="457200"/>
          </a:xfrm>
          <a:prstGeom prst="roundRect">
            <a:avLst/>
          </a:prstGeom>
          <a:solidFill>
            <a:srgbClr val="2D4E91"/>
          </a:solidFill>
          <a:ln w="12700">
            <a:solidFill>
              <a:srgbClr val="2D4E9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114800" y="2560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Stage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84C9"/>
                </a:solidFill>
              </a:rPr>
              <a:t>Fan‑out / Fan‑in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3749040"/>
            <a:ext cx="914400" cy="457200"/>
          </a:xfrm>
          <a:prstGeom prst="roundRect">
            <a:avLst/>
          </a:prstGeom>
          <a:solidFill>
            <a:srgbClr val="2D4E91"/>
          </a:solidFill>
          <a:ln w="12700">
            <a:solidFill>
              <a:srgbClr val="2D4E9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31520" y="3749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Задача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45920" y="3886200"/>
            <a:ext cx="365760" cy="91440"/>
          </a:xfrm>
          <a:prstGeom prst="rightArrow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2011680" y="3749040"/>
            <a:ext cx="914400" cy="457200"/>
          </a:xfrm>
          <a:prstGeom prst="roundRect">
            <a:avLst/>
          </a:prstGeom>
          <a:solidFill>
            <a:srgbClr val="4C84C9"/>
          </a:solidFill>
          <a:ln w="12700">
            <a:solidFill>
              <a:srgbClr val="4C8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2011680" y="3749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Часть 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83280" y="3749040"/>
            <a:ext cx="914400" cy="457200"/>
          </a:xfrm>
          <a:prstGeom prst="roundRect">
            <a:avLst/>
          </a:prstGeom>
          <a:solidFill>
            <a:srgbClr val="4C84C9"/>
          </a:solidFill>
          <a:ln w="12700">
            <a:solidFill>
              <a:srgbClr val="4C8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3383280" y="3749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Часть 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749040"/>
            <a:ext cx="914400" cy="457200"/>
          </a:xfrm>
          <a:prstGeom prst="roundRect">
            <a:avLst/>
          </a:prstGeom>
          <a:solidFill>
            <a:srgbClr val="4C84C9"/>
          </a:solidFill>
          <a:ln w="12700">
            <a:solidFill>
              <a:srgbClr val="4C8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754880" y="3749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Часть 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0" y="3886200"/>
            <a:ext cx="1097280" cy="100288"/>
          </a:xfrm>
          <a:prstGeom prst="rightArrow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6766560" y="3749040"/>
            <a:ext cx="914400" cy="457200"/>
          </a:xfrm>
          <a:prstGeom prst="roundRect">
            <a:avLst/>
          </a:prstGeom>
          <a:solidFill>
            <a:srgbClr val="2D4E91"/>
          </a:solidFill>
          <a:ln w="12700">
            <a:solidFill>
              <a:srgbClr val="2D4E9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6766560" y="3749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Результат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2D4E91"/>
                </a:solidFill>
                <a:hlinkClick r:id="rId3"/>
              </a:rPr>
              <a:t>[6]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4E91"/>
                </a:solidFill>
              </a:rPr>
              <a:t>Связь с лабораторными: Планировщик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• Очереди задач с приоритетами и квантом времени.
• Понижение приоритета для «долго» выполняющихся задач.
• Периодический “boost”: возврат задач в очередь высокого приоритета.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0" y="1005840"/>
          <a:ext cx="32004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2D4E91"/>
                </a:solidFill>
                <a:hlinkClick r:id="rId4"/>
              </a:rPr>
              <a:t>[8]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4E91"/>
                </a:solidFill>
              </a:rPr>
              <a:t>Связь с лабораторными: Конкурентность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• Изучены race condition и deadlock при работе с общей памятью.
• Реализованы паттерны worker pool, pipeline, fan‑out/fan‑in.
• Показано влияние синхронизации с помощью Atomics/Mutex.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17920" y="1371600"/>
            <a:ext cx="548640" cy="548640"/>
          </a:xfrm>
          <a:prstGeom prst="rect">
            <a:avLst/>
          </a:prstGeom>
          <a:solidFill>
            <a:srgbClr val="4C84C9"/>
          </a:solidFill>
          <a:ln w="12700">
            <a:solidFill>
              <a:srgbClr val="2D4E9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766560" y="1371600"/>
            <a:ext cx="548640" cy="548640"/>
          </a:xfrm>
          <a:prstGeom prst="rect">
            <a:avLst/>
          </a:prstGeom>
          <a:solidFill>
            <a:srgbClr val="4C84C9"/>
          </a:solidFill>
          <a:ln w="12700">
            <a:solidFill>
              <a:srgbClr val="2D4E9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217920" y="1920240"/>
            <a:ext cx="548640" cy="548640"/>
          </a:xfrm>
          <a:prstGeom prst="rect">
            <a:avLst/>
          </a:prstGeom>
          <a:solidFill>
            <a:srgbClr val="4C84C9"/>
          </a:solidFill>
          <a:ln w="12700">
            <a:solidFill>
              <a:srgbClr val="2D4E9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766560" y="1920240"/>
            <a:ext cx="548640" cy="548640"/>
          </a:xfrm>
          <a:prstGeom prst="rect">
            <a:avLst/>
          </a:prstGeom>
          <a:solidFill>
            <a:srgbClr val="4C84C9"/>
          </a:solidFill>
          <a:ln w="12700">
            <a:solidFill>
              <a:srgbClr val="2D4E9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903720" y="914400"/>
            <a:ext cx="274320" cy="457200"/>
          </a:xfrm>
          <a:prstGeom prst="downArrow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760720" y="2057400"/>
            <a:ext cx="457200" cy="274320"/>
          </a:xfrm>
          <a:prstGeom prst="rightArrow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94360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</a:rPr>
              <a:t>Race / Deadlock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2D4E91"/>
                </a:solidFill>
                <a:hlinkClick r:id="rId3"/>
              </a:rPr>
              <a:t>[9]</a:t>
            </a:r>
            <a:r>
              <a:rPr lang="en-US" sz="700" dirty="0">
                <a:solidFill>
                  <a:srgbClr val="666666"/>
                </a:solidFill>
              </a:rPr>
              <a:t>   </a:t>
            </a:r>
            <a:r>
              <a:rPr lang="en-US" sz="700" u="sng" dirty="0">
                <a:solidFill>
                  <a:srgbClr val="2D4E91"/>
                </a:solidFill>
                <a:hlinkClick r:id="rId4"/>
              </a:rPr>
              <a:t>[6]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4E91"/>
                </a:solidFill>
              </a:rPr>
              <a:t>Параллельная обработка изображений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• 2D данные удобно распараллелить: изображение разбивается на блоки,
   каждый воркер обрабатывает свою часть.
• Сравнение с однопоточной версией показывает значительный прирост скорости.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760720" y="1188720"/>
            <a:ext cx="667512" cy="667512"/>
          </a:xfrm>
          <a:prstGeom prst="rect">
            <a:avLst/>
          </a:prstGeom>
          <a:solidFill>
            <a:srgbClr val="4C84C9"/>
          </a:solidFill>
          <a:ln w="12700">
            <a:solidFill>
              <a:srgbClr val="F7F9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446520" y="1188720"/>
            <a:ext cx="667512" cy="667512"/>
          </a:xfrm>
          <a:prstGeom prst="rect">
            <a:avLst/>
          </a:prstGeom>
          <a:solidFill>
            <a:srgbClr val="2D4E91"/>
          </a:solidFill>
          <a:ln w="12700">
            <a:solidFill>
              <a:srgbClr val="F7F9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132320" y="1188720"/>
            <a:ext cx="667512" cy="667512"/>
          </a:xfrm>
          <a:prstGeom prst="rect">
            <a:avLst/>
          </a:prstGeom>
          <a:solidFill>
            <a:srgbClr val="4C84C9"/>
          </a:solidFill>
          <a:ln w="12700">
            <a:solidFill>
              <a:srgbClr val="F7F9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818120" y="1188720"/>
            <a:ext cx="667512" cy="667512"/>
          </a:xfrm>
          <a:prstGeom prst="rect">
            <a:avLst/>
          </a:prstGeom>
          <a:solidFill>
            <a:srgbClr val="2D4E91"/>
          </a:solidFill>
          <a:ln w="12700">
            <a:solidFill>
              <a:srgbClr val="F7F9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760720" y="1874520"/>
            <a:ext cx="667512" cy="667512"/>
          </a:xfrm>
          <a:prstGeom prst="rect">
            <a:avLst/>
          </a:prstGeom>
          <a:solidFill>
            <a:srgbClr val="2D4E91"/>
          </a:solidFill>
          <a:ln w="12700">
            <a:solidFill>
              <a:srgbClr val="F7F9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46520" y="1874520"/>
            <a:ext cx="667512" cy="667512"/>
          </a:xfrm>
          <a:prstGeom prst="rect">
            <a:avLst/>
          </a:prstGeom>
          <a:solidFill>
            <a:srgbClr val="4C84C9"/>
          </a:solidFill>
          <a:ln w="12700">
            <a:solidFill>
              <a:srgbClr val="F7F9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132320" y="1874520"/>
            <a:ext cx="667512" cy="667512"/>
          </a:xfrm>
          <a:prstGeom prst="rect">
            <a:avLst/>
          </a:prstGeom>
          <a:solidFill>
            <a:srgbClr val="2D4E91"/>
          </a:solidFill>
          <a:ln w="12700">
            <a:solidFill>
              <a:srgbClr val="F7F9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818120" y="1874520"/>
            <a:ext cx="667512" cy="667512"/>
          </a:xfrm>
          <a:prstGeom prst="rect">
            <a:avLst/>
          </a:prstGeom>
          <a:solidFill>
            <a:srgbClr val="4C84C9"/>
          </a:solidFill>
          <a:ln w="12700">
            <a:solidFill>
              <a:srgbClr val="F7F9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760720" y="2560320"/>
            <a:ext cx="667512" cy="667512"/>
          </a:xfrm>
          <a:prstGeom prst="rect">
            <a:avLst/>
          </a:prstGeom>
          <a:solidFill>
            <a:srgbClr val="4C84C9"/>
          </a:solidFill>
          <a:ln w="12700">
            <a:solidFill>
              <a:srgbClr val="F7F9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46520" y="2560320"/>
            <a:ext cx="667512" cy="667512"/>
          </a:xfrm>
          <a:prstGeom prst="rect">
            <a:avLst/>
          </a:prstGeom>
          <a:solidFill>
            <a:srgbClr val="2D4E91"/>
          </a:solidFill>
          <a:ln w="12700">
            <a:solidFill>
              <a:srgbClr val="F7F9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132320" y="2560320"/>
            <a:ext cx="667512" cy="667512"/>
          </a:xfrm>
          <a:prstGeom prst="rect">
            <a:avLst/>
          </a:prstGeom>
          <a:solidFill>
            <a:srgbClr val="4C84C9"/>
          </a:solidFill>
          <a:ln w="12700">
            <a:solidFill>
              <a:srgbClr val="F7F9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818120" y="2560320"/>
            <a:ext cx="667512" cy="667512"/>
          </a:xfrm>
          <a:prstGeom prst="rect">
            <a:avLst/>
          </a:prstGeom>
          <a:solidFill>
            <a:srgbClr val="2D4E91"/>
          </a:solidFill>
          <a:ln w="12700">
            <a:solidFill>
              <a:srgbClr val="F7F9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760720" y="3246120"/>
            <a:ext cx="667512" cy="667512"/>
          </a:xfrm>
          <a:prstGeom prst="rect">
            <a:avLst/>
          </a:prstGeom>
          <a:solidFill>
            <a:srgbClr val="2D4E91"/>
          </a:solidFill>
          <a:ln w="12700">
            <a:solidFill>
              <a:srgbClr val="F7F9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46520" y="3246120"/>
            <a:ext cx="667512" cy="667512"/>
          </a:xfrm>
          <a:prstGeom prst="rect">
            <a:avLst/>
          </a:prstGeom>
          <a:solidFill>
            <a:srgbClr val="4C84C9"/>
          </a:solidFill>
          <a:ln w="12700">
            <a:solidFill>
              <a:srgbClr val="F7F9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132320" y="3246120"/>
            <a:ext cx="667512" cy="667512"/>
          </a:xfrm>
          <a:prstGeom prst="rect">
            <a:avLst/>
          </a:prstGeom>
          <a:solidFill>
            <a:srgbClr val="2D4E91"/>
          </a:solidFill>
          <a:ln w="12700">
            <a:solidFill>
              <a:srgbClr val="F7F9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818120" y="3246120"/>
            <a:ext cx="667512" cy="667512"/>
          </a:xfrm>
          <a:prstGeom prst="rect">
            <a:avLst/>
          </a:prstGeom>
          <a:solidFill>
            <a:srgbClr val="4C84C9"/>
          </a:solidFill>
          <a:ln w="12700">
            <a:solidFill>
              <a:srgbClr val="F7F9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76072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</a:rPr>
              <a:t>Разделённое изображение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2D4E91"/>
                </a:solidFill>
                <a:hlinkClick r:id="rId3"/>
              </a:rPr>
              <a:t>[6]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4E91"/>
                </a:solidFill>
              </a:rPr>
              <a:t>Выводы и рекомендации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686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</a:rPr>
              <a:t>Уровни «параллельности» в JS:
</a:t>
            </a:r>
            <a:r>
              <a:rPr lang="en-US" sz="1400" dirty="0">
                <a:solidFill>
                  <a:srgbClr val="333333"/>
                </a:solidFill>
              </a:rPr>
              <a:t>1. Конкурентность: event loop, асинхронные API, Promises/async – подходит для I/O и большого числа запросов.
2. Параллелизм: Workers и пул воркеров – необходим для тяжёлых вычислений и распараллеливания CPU.
Выбирайте подход в зависимости от характера нагрузки: асинхронность для I/O‑нагрузки; воркеры для CPU‑интенсивных задач.
Следующий шаг: оптимизируйте код, избегайте блокировки event loop, используйте паттерны распределения задач.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2D4E91"/>
                </a:solidFill>
                <a:hlinkClick r:id="rId3"/>
              </a:rPr>
              <a:t>[1]</a:t>
            </a:r>
            <a:r>
              <a:rPr lang="en-US" sz="700" dirty="0">
                <a:solidFill>
                  <a:srgbClr val="666666"/>
                </a:solidFill>
              </a:rPr>
              <a:t>   </a:t>
            </a:r>
            <a:r>
              <a:rPr lang="en-US" sz="700" u="sng" dirty="0">
                <a:solidFill>
                  <a:srgbClr val="2D4E91"/>
                </a:solidFill>
                <a:hlinkClick r:id="rId4"/>
              </a:rPr>
              <a:t>[6]</a:t>
            </a:r>
            <a:r>
              <a:rPr lang="en-US" sz="700" dirty="0">
                <a:solidFill>
                  <a:srgbClr val="666666"/>
                </a:solidFill>
              </a:rPr>
              <a:t>   </a:t>
            </a:r>
            <a:r>
              <a:rPr lang="en-US" sz="700" u="sng" dirty="0">
                <a:solidFill>
                  <a:srgbClr val="2D4E91"/>
                </a:solidFill>
                <a:hlinkClick r:id="rId5"/>
              </a:rPr>
              <a:t>[7]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601</Words>
  <Application>Microsoft Macintosh PowerPoint</Application>
  <PresentationFormat>Экран (16:9)</PresentationFormat>
  <Paragraphs>83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Veniamin Riadnov</cp:lastModifiedBy>
  <cp:revision>2</cp:revision>
  <dcterms:created xsi:type="dcterms:W3CDTF">2025-12-16T20:47:38Z</dcterms:created>
  <dcterms:modified xsi:type="dcterms:W3CDTF">2025-12-16T20:53:27Z</dcterms:modified>
</cp:coreProperties>
</file>